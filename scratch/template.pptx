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7" d="100"/>
          <a:sy n="67" d="100"/>
        </p:scale>
        <p:origin x="396" y="10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78CA11-C3A0-43A8-BA65-6344CF921DAD}" type="doc">
      <dgm:prSet loTypeId="urn:microsoft.com/office/officeart/2009/3/layout/SnapshotPictureList" loCatId="picture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6699405D-041B-4BC8-9D86-60D5CA513202}">
      <dgm:prSet phldrT="[Text]" phldr="1"/>
      <dgm:spPr/>
      <dgm:t>
        <a:bodyPr/>
        <a:lstStyle/>
        <a:p>
          <a:endParaRPr lang="en-IN"/>
        </a:p>
      </dgm:t>
    </dgm:pt>
    <dgm:pt modelId="{8FE1B931-394E-4943-AFD8-C32DD671DF1A}" type="parTrans" cxnId="{86B61A92-502A-4200-92DE-2643D90F4284}">
      <dgm:prSet/>
      <dgm:spPr/>
      <dgm:t>
        <a:bodyPr/>
        <a:lstStyle/>
        <a:p>
          <a:endParaRPr lang="en-IN"/>
        </a:p>
      </dgm:t>
    </dgm:pt>
    <dgm:pt modelId="{912617E1-AB4D-42CA-85B6-D8FD9815D476}" type="sibTrans" cxnId="{86B61A92-502A-4200-92DE-2643D90F4284}">
      <dgm:prSet/>
      <dgm:spPr/>
      <dgm:t>
        <a:bodyPr/>
        <a:lstStyle/>
        <a:p>
          <a:endParaRPr lang="en-IN"/>
        </a:p>
      </dgm:t>
    </dgm:pt>
    <dgm:pt modelId="{4CB0D9AC-6B9E-47B9-B48D-C2C299B63DDD}">
      <dgm:prSet phldrT="[Text]" phldr="1"/>
      <dgm:spPr/>
      <dgm:t>
        <a:bodyPr/>
        <a:lstStyle/>
        <a:p>
          <a:endParaRPr lang="en-IN"/>
        </a:p>
      </dgm:t>
    </dgm:pt>
    <dgm:pt modelId="{2B4E47A1-308E-4D58-856C-D3754E37AF9D}" type="parTrans" cxnId="{BE457B04-74B9-4812-A010-9D3F8DA37A83}">
      <dgm:prSet/>
      <dgm:spPr/>
      <dgm:t>
        <a:bodyPr/>
        <a:lstStyle/>
        <a:p>
          <a:endParaRPr lang="en-IN"/>
        </a:p>
      </dgm:t>
    </dgm:pt>
    <dgm:pt modelId="{9C44DCC4-5C40-47A7-9CF5-609801CA5567}" type="sibTrans" cxnId="{BE457B04-74B9-4812-A010-9D3F8DA37A83}">
      <dgm:prSet/>
      <dgm:spPr/>
      <dgm:t>
        <a:bodyPr/>
        <a:lstStyle/>
        <a:p>
          <a:endParaRPr lang="en-IN"/>
        </a:p>
      </dgm:t>
    </dgm:pt>
    <dgm:pt modelId="{DA90AF73-3AEE-4A48-A94C-94B79FFFAA7E}" type="pres">
      <dgm:prSet presAssocID="{5978CA11-C3A0-43A8-BA65-6344CF921DAD}" presName="Name0" presStyleCnt="0">
        <dgm:presLayoutVars>
          <dgm:chMax/>
          <dgm:chPref/>
          <dgm:dir/>
          <dgm:animLvl val="lvl"/>
        </dgm:presLayoutVars>
      </dgm:prSet>
      <dgm:spPr/>
    </dgm:pt>
    <dgm:pt modelId="{6165A612-4064-4560-8B58-F7B935BA176B}" type="pres">
      <dgm:prSet presAssocID="{6699405D-041B-4BC8-9D86-60D5CA513202}" presName="composite" presStyleCnt="0"/>
      <dgm:spPr/>
    </dgm:pt>
    <dgm:pt modelId="{14F98A9A-AB10-4F7F-A77D-8A6C06A6B165}" type="pres">
      <dgm:prSet presAssocID="{6699405D-041B-4BC8-9D86-60D5CA513202}" presName="ParentAccentShape" presStyleLbl="trBgShp" presStyleIdx="0" presStyleCnt="2"/>
      <dgm:spPr/>
    </dgm:pt>
    <dgm:pt modelId="{E431945A-1533-434B-B773-7E4359CA4856}" type="pres">
      <dgm:prSet presAssocID="{6699405D-041B-4BC8-9D86-60D5CA513202}" presName="ParentText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64B80B80-C222-4459-8325-F8378E7BB413}" type="pres">
      <dgm:prSet presAssocID="{6699405D-041B-4BC8-9D86-60D5CA513202}" presName="ChildText" presStyleLbl="revTx" presStyleIdx="1" presStyleCnt="2">
        <dgm:presLayoutVars>
          <dgm:chMax val="0"/>
          <dgm:chPref val="0"/>
        </dgm:presLayoutVars>
      </dgm:prSet>
      <dgm:spPr/>
    </dgm:pt>
    <dgm:pt modelId="{58854466-A9A5-4A0E-B831-013E05A52D02}" type="pres">
      <dgm:prSet presAssocID="{6699405D-041B-4BC8-9D86-60D5CA513202}" presName="ChildAccentShape" presStyleLbl="trBgShp" presStyleIdx="1" presStyleCnt="2"/>
      <dgm:spPr/>
    </dgm:pt>
    <dgm:pt modelId="{34888B79-19CF-428F-BBDA-5087ABB51B15}" type="pres">
      <dgm:prSet presAssocID="{6699405D-041B-4BC8-9D86-60D5CA513202}" presName="Image" presStyleLbl="alignImgPlace1" presStyleIdx="0" presStyleCnt="1"/>
      <dgm:spPr/>
    </dgm:pt>
  </dgm:ptLst>
  <dgm:cxnLst>
    <dgm:cxn modelId="{BE457B04-74B9-4812-A010-9D3F8DA37A83}" srcId="{6699405D-041B-4BC8-9D86-60D5CA513202}" destId="{4CB0D9AC-6B9E-47B9-B48D-C2C299B63DDD}" srcOrd="0" destOrd="0" parTransId="{2B4E47A1-308E-4D58-856C-D3754E37AF9D}" sibTransId="{9C44DCC4-5C40-47A7-9CF5-609801CA5567}"/>
    <dgm:cxn modelId="{B629DB0D-E51C-49A0-AA9D-963067A061FD}" type="presOf" srcId="{5978CA11-C3A0-43A8-BA65-6344CF921DAD}" destId="{DA90AF73-3AEE-4A48-A94C-94B79FFFAA7E}" srcOrd="0" destOrd="0" presId="urn:microsoft.com/office/officeart/2009/3/layout/SnapshotPictureList"/>
    <dgm:cxn modelId="{A2076F4F-CC0A-4393-A52B-6A16894510F9}" type="presOf" srcId="{6699405D-041B-4BC8-9D86-60D5CA513202}" destId="{E431945A-1533-434B-B773-7E4359CA4856}" srcOrd="0" destOrd="0" presId="urn:microsoft.com/office/officeart/2009/3/layout/SnapshotPictureList"/>
    <dgm:cxn modelId="{86B61A92-502A-4200-92DE-2643D90F4284}" srcId="{5978CA11-C3A0-43A8-BA65-6344CF921DAD}" destId="{6699405D-041B-4BC8-9D86-60D5CA513202}" srcOrd="0" destOrd="0" parTransId="{8FE1B931-394E-4943-AFD8-C32DD671DF1A}" sibTransId="{912617E1-AB4D-42CA-85B6-D8FD9815D476}"/>
    <dgm:cxn modelId="{426502DD-1EF7-4CA3-9FFF-D1B29719D003}" type="presOf" srcId="{4CB0D9AC-6B9E-47B9-B48D-C2C299B63DDD}" destId="{64B80B80-C222-4459-8325-F8378E7BB413}" srcOrd="0" destOrd="0" presId="urn:microsoft.com/office/officeart/2009/3/layout/SnapshotPictureList"/>
    <dgm:cxn modelId="{D9FB5173-DE01-4CC2-80AC-FB4B8D8C2A39}" type="presParOf" srcId="{DA90AF73-3AEE-4A48-A94C-94B79FFFAA7E}" destId="{6165A612-4064-4560-8B58-F7B935BA176B}" srcOrd="0" destOrd="0" presId="urn:microsoft.com/office/officeart/2009/3/layout/SnapshotPictureList"/>
    <dgm:cxn modelId="{18CC3957-3062-4129-8296-E0EEACFA4CC7}" type="presParOf" srcId="{6165A612-4064-4560-8B58-F7B935BA176B}" destId="{14F98A9A-AB10-4F7F-A77D-8A6C06A6B165}" srcOrd="0" destOrd="0" presId="urn:microsoft.com/office/officeart/2009/3/layout/SnapshotPictureList"/>
    <dgm:cxn modelId="{0E28F4ED-DA0A-4AC3-86BC-8C5886B4BFB0}" type="presParOf" srcId="{6165A612-4064-4560-8B58-F7B935BA176B}" destId="{E431945A-1533-434B-B773-7E4359CA4856}" srcOrd="1" destOrd="0" presId="urn:microsoft.com/office/officeart/2009/3/layout/SnapshotPictureList"/>
    <dgm:cxn modelId="{DB15FB4E-B788-4E6A-98A4-C17CDCC26D20}" type="presParOf" srcId="{6165A612-4064-4560-8B58-F7B935BA176B}" destId="{64B80B80-C222-4459-8325-F8378E7BB413}" srcOrd="2" destOrd="0" presId="urn:microsoft.com/office/officeart/2009/3/layout/SnapshotPictureList"/>
    <dgm:cxn modelId="{B1FD447D-93AE-4C78-839D-20C0E705F55D}" type="presParOf" srcId="{6165A612-4064-4560-8B58-F7B935BA176B}" destId="{58854466-A9A5-4A0E-B831-013E05A52D02}" srcOrd="3" destOrd="0" presId="urn:microsoft.com/office/officeart/2009/3/layout/SnapshotPictureList"/>
    <dgm:cxn modelId="{8CEA68C1-078A-404A-A2B3-BF0D3FA9C641}" type="presParOf" srcId="{6165A612-4064-4560-8B58-F7B935BA176B}" destId="{34888B79-19CF-428F-BBDA-5087ABB51B15}" srcOrd="4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854466-A9A5-4A0E-B831-013E05A52D02}">
      <dsp:nvSpPr>
        <dsp:cNvPr id="0" name=""/>
        <dsp:cNvSpPr/>
      </dsp:nvSpPr>
      <dsp:spPr>
        <a:xfrm>
          <a:off x="4681696" y="550652"/>
          <a:ext cx="114140" cy="2112505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F98A9A-AB10-4F7F-A77D-8A6C06A6B165}">
      <dsp:nvSpPr>
        <dsp:cNvPr id="0" name=""/>
        <dsp:cNvSpPr/>
      </dsp:nvSpPr>
      <dsp:spPr>
        <a:xfrm>
          <a:off x="114140" y="550652"/>
          <a:ext cx="2968623" cy="2112505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88B79-19CF-428F-BBDA-5087ABB51B15}">
      <dsp:nvSpPr>
        <dsp:cNvPr id="0" name=""/>
        <dsp:cNvSpPr/>
      </dsp:nvSpPr>
      <dsp:spPr>
        <a:xfrm>
          <a:off x="0" y="297530"/>
          <a:ext cx="2854482" cy="199824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1945A-1533-434B-B773-7E4359CA4856}">
      <dsp:nvSpPr>
        <dsp:cNvPr id="0" name=""/>
        <dsp:cNvSpPr/>
      </dsp:nvSpPr>
      <dsp:spPr>
        <a:xfrm>
          <a:off x="230200" y="2296485"/>
          <a:ext cx="2738422" cy="250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60" tIns="41910" rIns="11176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230200" y="2296485"/>
        <a:ext cx="2738422" cy="250756"/>
      </dsp:txXfrm>
    </dsp:sp>
    <dsp:sp modelId="{64B80B80-C222-4459-8325-F8378E7BB413}">
      <dsp:nvSpPr>
        <dsp:cNvPr id="0" name=""/>
        <dsp:cNvSpPr/>
      </dsp:nvSpPr>
      <dsp:spPr>
        <a:xfrm>
          <a:off x="3203619" y="550652"/>
          <a:ext cx="1357221" cy="2112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3203619" y="550652"/>
        <a:ext cx="1357221" cy="2112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55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41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62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5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09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51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58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72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08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06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7939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19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29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02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60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1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1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Cortexa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AI That Thinks, Challenges, and Delivers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F905627C-DDFE-172D-28B5-A14E3F4D050B}"/>
              </a:ext>
            </a:extLst>
          </p:cNvPr>
          <p:cNvSpPr/>
          <p:nvPr/>
        </p:nvSpPr>
        <p:spPr>
          <a:xfrm flipV="1">
            <a:off x="-825467" y="-1262586"/>
            <a:ext cx="6951893" cy="2730198"/>
          </a:xfrm>
          <a:custGeom>
            <a:avLst/>
            <a:gdLst/>
            <a:ahLst/>
            <a:cxnLst/>
            <a:rect l="l" t="t" r="r" b="b"/>
            <a:pathLst>
              <a:path w="6951893" h="2730198">
                <a:moveTo>
                  <a:pt x="0" y="2730198"/>
                </a:moveTo>
                <a:lnTo>
                  <a:pt x="6951893" y="2730198"/>
                </a:lnTo>
                <a:lnTo>
                  <a:pt x="6951893" y="0"/>
                </a:lnTo>
                <a:lnTo>
                  <a:pt x="0" y="0"/>
                </a:lnTo>
                <a:lnTo>
                  <a:pt x="0" y="273019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3E7F3B62-22D3-81CF-63B7-74AD17EE2221}"/>
              </a:ext>
            </a:extLst>
          </p:cNvPr>
          <p:cNvSpPr/>
          <p:nvPr/>
        </p:nvSpPr>
        <p:spPr>
          <a:xfrm>
            <a:off x="5842000" y="27529"/>
            <a:ext cx="4411723" cy="3451665"/>
          </a:xfrm>
          <a:custGeom>
            <a:avLst/>
            <a:gdLst/>
            <a:ahLst/>
            <a:cxnLst/>
            <a:rect l="l" t="t" r="r" b="b"/>
            <a:pathLst>
              <a:path w="10630141" h="7674264">
                <a:moveTo>
                  <a:pt x="0" y="0"/>
                </a:moveTo>
                <a:lnTo>
                  <a:pt x="10630141" y="0"/>
                </a:lnTo>
                <a:lnTo>
                  <a:pt x="10630141" y="7674264"/>
                </a:lnTo>
                <a:lnTo>
                  <a:pt x="0" y="7674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BC5150D-7A47-E95D-6C17-ED2FEA83ADA4}"/>
              </a:ext>
            </a:extLst>
          </p:cNvPr>
          <p:cNvSpPr/>
          <p:nvPr/>
        </p:nvSpPr>
        <p:spPr>
          <a:xfrm>
            <a:off x="6234960" y="3429000"/>
            <a:ext cx="3625802" cy="4244612"/>
          </a:xfrm>
          <a:custGeom>
            <a:avLst/>
            <a:gdLst/>
            <a:ahLst/>
            <a:cxnLst/>
            <a:rect l="l" t="t" r="r" b="b"/>
            <a:pathLst>
              <a:path w="7690935" h="8229600">
                <a:moveTo>
                  <a:pt x="0" y="0"/>
                </a:moveTo>
                <a:lnTo>
                  <a:pt x="7690936" y="0"/>
                </a:lnTo>
                <a:lnTo>
                  <a:pt x="76909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processes slow decisions</a:t>
            </a:r>
          </a:p>
          <a:p>
            <a:r>
              <a:t>Data is fragmented across systems</a:t>
            </a:r>
          </a:p>
          <a:p>
            <a:r>
              <a:t>No auditability or transparency</a:t>
            </a:r>
          </a:p>
          <a:p>
            <a:r>
              <a:t>Low efficiency in workflows</a:t>
            </a:r>
          </a:p>
        </p:txBody>
      </p:sp>
      <p:sp>
        <p:nvSpPr>
          <p:cNvPr id="4" name="Freeform 22">
            <a:extLst>
              <a:ext uri="{FF2B5EF4-FFF2-40B4-BE49-F238E27FC236}">
                <a16:creationId xmlns:a16="http://schemas.microsoft.com/office/drawing/2014/main" id="{88B608C1-7DAA-030C-15AC-223B02FEF1C3}"/>
              </a:ext>
            </a:extLst>
          </p:cNvPr>
          <p:cNvSpPr/>
          <p:nvPr/>
        </p:nvSpPr>
        <p:spPr>
          <a:xfrm>
            <a:off x="7041273" y="4935944"/>
            <a:ext cx="1508367" cy="1636296"/>
          </a:xfrm>
          <a:custGeom>
            <a:avLst/>
            <a:gdLst/>
            <a:ahLst/>
            <a:cxnLst/>
            <a:rect l="l" t="t" r="r" b="b"/>
            <a:pathLst>
              <a:path w="1508367" h="1636296">
                <a:moveTo>
                  <a:pt x="0" y="0"/>
                </a:moveTo>
                <a:lnTo>
                  <a:pt x="1508367" y="0"/>
                </a:lnTo>
                <a:lnTo>
                  <a:pt x="1508367" y="1636296"/>
                </a:lnTo>
                <a:lnTo>
                  <a:pt x="0" y="16362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35">
            <a:extLst>
              <a:ext uri="{FF2B5EF4-FFF2-40B4-BE49-F238E27FC236}">
                <a16:creationId xmlns:a16="http://schemas.microsoft.com/office/drawing/2014/main" id="{CCD6B80E-21A4-3422-E99E-07297735B977}"/>
              </a:ext>
            </a:extLst>
          </p:cNvPr>
          <p:cNvGrpSpPr/>
          <p:nvPr/>
        </p:nvGrpSpPr>
        <p:grpSpPr>
          <a:xfrm rot="908398">
            <a:off x="5791295" y="-490238"/>
            <a:ext cx="3797562" cy="3802250"/>
            <a:chOff x="0" y="0"/>
            <a:chExt cx="685800" cy="685800"/>
          </a:xfrm>
        </p:grpSpPr>
        <p:sp>
          <p:nvSpPr>
            <p:cNvPr id="7" name="Freeform 36">
              <a:extLst>
                <a:ext uri="{FF2B5EF4-FFF2-40B4-BE49-F238E27FC236}">
                  <a16:creationId xmlns:a16="http://schemas.microsoft.com/office/drawing/2014/main" id="{5C5F26A0-DF07-EC54-3AC4-B4AD061BF19E}"/>
                </a:ext>
              </a:extLst>
            </p:cNvPr>
            <p:cNvSpPr/>
            <p:nvPr/>
          </p:nvSpPr>
          <p:spPr>
            <a:xfrm>
              <a:off x="46761" y="46761"/>
              <a:ext cx="592277" cy="592277"/>
            </a:xfrm>
            <a:custGeom>
              <a:avLst/>
              <a:gdLst/>
              <a:ahLst/>
              <a:cxnLst/>
              <a:rect l="l" t="t" r="r" b="b"/>
              <a:pathLst>
                <a:path w="592277" h="592277">
                  <a:moveTo>
                    <a:pt x="305036" y="7559"/>
                  </a:moveTo>
                  <a:lnTo>
                    <a:pt x="335502" y="193559"/>
                  </a:lnTo>
                  <a:cubicBezTo>
                    <a:pt x="340818" y="226017"/>
                    <a:pt x="366261" y="251460"/>
                    <a:pt x="398719" y="256776"/>
                  </a:cubicBezTo>
                  <a:lnTo>
                    <a:pt x="584719" y="287242"/>
                  </a:lnTo>
                  <a:cubicBezTo>
                    <a:pt x="589078" y="287956"/>
                    <a:pt x="592278" y="291722"/>
                    <a:pt x="592278" y="296139"/>
                  </a:cubicBezTo>
                  <a:cubicBezTo>
                    <a:pt x="592278" y="300556"/>
                    <a:pt x="589078" y="304322"/>
                    <a:pt x="584719" y="305036"/>
                  </a:cubicBezTo>
                  <a:lnTo>
                    <a:pt x="398719" y="335502"/>
                  </a:lnTo>
                  <a:cubicBezTo>
                    <a:pt x="366261" y="340818"/>
                    <a:pt x="340818" y="366261"/>
                    <a:pt x="335502" y="398719"/>
                  </a:cubicBezTo>
                  <a:lnTo>
                    <a:pt x="305036" y="584719"/>
                  </a:lnTo>
                  <a:cubicBezTo>
                    <a:pt x="304322" y="589078"/>
                    <a:pt x="300556" y="592278"/>
                    <a:pt x="296139" y="592278"/>
                  </a:cubicBezTo>
                  <a:cubicBezTo>
                    <a:pt x="291722" y="592278"/>
                    <a:pt x="287956" y="589078"/>
                    <a:pt x="287242" y="584719"/>
                  </a:cubicBezTo>
                  <a:lnTo>
                    <a:pt x="256776" y="398719"/>
                  </a:lnTo>
                  <a:cubicBezTo>
                    <a:pt x="251460" y="366261"/>
                    <a:pt x="226017" y="340818"/>
                    <a:pt x="193559" y="335502"/>
                  </a:cubicBezTo>
                  <a:lnTo>
                    <a:pt x="7559" y="305036"/>
                  </a:lnTo>
                  <a:cubicBezTo>
                    <a:pt x="3200" y="304322"/>
                    <a:pt x="0" y="300556"/>
                    <a:pt x="0" y="296139"/>
                  </a:cubicBezTo>
                  <a:cubicBezTo>
                    <a:pt x="0" y="291722"/>
                    <a:pt x="3200" y="287956"/>
                    <a:pt x="7559" y="287242"/>
                  </a:cubicBezTo>
                  <a:lnTo>
                    <a:pt x="193559" y="256776"/>
                  </a:lnTo>
                  <a:cubicBezTo>
                    <a:pt x="226017" y="251460"/>
                    <a:pt x="251460" y="226017"/>
                    <a:pt x="256776" y="193559"/>
                  </a:cubicBezTo>
                  <a:lnTo>
                    <a:pt x="287242" y="7559"/>
                  </a:lnTo>
                  <a:cubicBezTo>
                    <a:pt x="287956" y="3200"/>
                    <a:pt x="291722" y="0"/>
                    <a:pt x="296139" y="0"/>
                  </a:cubicBezTo>
                  <a:cubicBezTo>
                    <a:pt x="300556" y="0"/>
                    <a:pt x="304322" y="3200"/>
                    <a:pt x="305036" y="7559"/>
                  </a:cubicBezTo>
                  <a:close/>
                </a:path>
              </a:pathLst>
            </a:custGeom>
            <a:gradFill rotWithShape="1">
              <a:gsLst>
                <a:gs pos="0">
                  <a:srgbClr val="DF563A">
                    <a:alpha val="12880"/>
                  </a:srgbClr>
                </a:gs>
                <a:gs pos="50000">
                  <a:srgbClr val="FF61A6">
                    <a:alpha val="23000"/>
                  </a:srgbClr>
                </a:gs>
                <a:gs pos="100000">
                  <a:srgbClr val="8561FF">
                    <a:alpha val="10235"/>
                  </a:srgbClr>
                </a:gs>
              </a:gsLst>
              <a:lin ang="0"/>
            </a:gradFill>
          </p:spPr>
        </p:sp>
        <p:sp>
          <p:nvSpPr>
            <p:cNvPr id="8" name="TextBox 37">
              <a:extLst>
                <a:ext uri="{FF2B5EF4-FFF2-40B4-BE49-F238E27FC236}">
                  <a16:creationId xmlns:a16="http://schemas.microsoft.com/office/drawing/2014/main" id="{EC037281-6D87-D776-692C-D3011299DCA5}"/>
                </a:ext>
              </a:extLst>
            </p:cNvPr>
            <p:cNvSpPr txBox="1"/>
            <p:nvPr/>
          </p:nvSpPr>
          <p:spPr>
            <a:xfrm>
              <a:off x="294295" y="332395"/>
              <a:ext cx="97209" cy="59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sp>
        <p:nvSpPr>
          <p:cNvPr id="9" name="Freeform 23">
            <a:extLst>
              <a:ext uri="{FF2B5EF4-FFF2-40B4-BE49-F238E27FC236}">
                <a16:creationId xmlns:a16="http://schemas.microsoft.com/office/drawing/2014/main" id="{1A188C01-2103-BD55-29E6-E797289A5082}"/>
              </a:ext>
            </a:extLst>
          </p:cNvPr>
          <p:cNvSpPr/>
          <p:nvPr/>
        </p:nvSpPr>
        <p:spPr>
          <a:xfrm>
            <a:off x="-1054575" y="4735400"/>
            <a:ext cx="7955280" cy="4245199"/>
          </a:xfrm>
          <a:custGeom>
            <a:avLst/>
            <a:gdLst/>
            <a:ahLst/>
            <a:cxnLst/>
            <a:rect l="l" t="t" r="r" b="b"/>
            <a:pathLst>
              <a:path w="10621819" h="7674264">
                <a:moveTo>
                  <a:pt x="0" y="0"/>
                </a:moveTo>
                <a:lnTo>
                  <a:pt x="10621819" y="0"/>
                </a:lnTo>
                <a:lnTo>
                  <a:pt x="10621819" y="7674264"/>
                </a:lnTo>
                <a:lnTo>
                  <a:pt x="0" y="7674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8AD497CC-BF4B-6E1D-18DF-26C34DD3EDBA}"/>
              </a:ext>
            </a:extLst>
          </p:cNvPr>
          <p:cNvGrpSpPr/>
          <p:nvPr/>
        </p:nvGrpSpPr>
        <p:grpSpPr>
          <a:xfrm>
            <a:off x="2923065" y="1058793"/>
            <a:ext cx="674278" cy="646756"/>
            <a:chOff x="0" y="0"/>
            <a:chExt cx="622300" cy="596900"/>
          </a:xfrm>
        </p:grpSpPr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79F58217-9291-6CE9-1B10-618184055D83}"/>
                </a:ext>
              </a:extLst>
            </p:cNvPr>
            <p:cNvSpPr/>
            <p:nvPr/>
          </p:nvSpPr>
          <p:spPr>
            <a:xfrm>
              <a:off x="0" y="0"/>
              <a:ext cx="622300" cy="596900"/>
            </a:xfrm>
            <a:custGeom>
              <a:avLst/>
              <a:gdLst/>
              <a:ahLst/>
              <a:cxnLst/>
              <a:rect l="l" t="t" r="r" b="b"/>
              <a:pathLst>
                <a:path w="622300" h="5969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DF563A"/>
            </a:solidFill>
          </p:spPr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2D4647CD-22EE-A85D-F368-47F91562FBC2}"/>
                </a:ext>
              </a:extLst>
            </p:cNvPr>
            <p:cNvSpPr txBox="1"/>
            <p:nvPr/>
          </p:nvSpPr>
          <p:spPr>
            <a:xfrm>
              <a:off x="0" y="165100"/>
              <a:ext cx="622300" cy="304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reasoning pipelines</a:t>
            </a:r>
          </a:p>
          <a:p>
            <a:r>
              <a:t>Ensure verifiable outputs</a:t>
            </a:r>
          </a:p>
          <a:p>
            <a:r>
              <a:t>Enable scalable execution</a:t>
            </a:r>
          </a:p>
          <a:p>
            <a:r>
              <a:t>Maintain system reliability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6B6D60A7-1C8C-2DB2-5D47-D434340AE207}"/>
              </a:ext>
            </a:extLst>
          </p:cNvPr>
          <p:cNvSpPr/>
          <p:nvPr/>
        </p:nvSpPr>
        <p:spPr>
          <a:xfrm>
            <a:off x="6489700" y="4140200"/>
            <a:ext cx="2059940" cy="2404007"/>
          </a:xfrm>
          <a:custGeom>
            <a:avLst/>
            <a:gdLst/>
            <a:ahLst/>
            <a:cxnLst/>
            <a:rect l="l" t="t" r="r" b="b"/>
            <a:pathLst>
              <a:path w="4730007" h="6398055">
                <a:moveTo>
                  <a:pt x="0" y="0"/>
                </a:moveTo>
                <a:lnTo>
                  <a:pt x="4730007" y="0"/>
                </a:lnTo>
                <a:lnTo>
                  <a:pt x="4730007" y="6398055"/>
                </a:lnTo>
                <a:lnTo>
                  <a:pt x="0" y="6398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C0C19E8-B0FC-C7E8-B524-CB57F86E0A3D}"/>
              </a:ext>
            </a:extLst>
          </p:cNvPr>
          <p:cNvSpPr/>
          <p:nvPr/>
        </p:nvSpPr>
        <p:spPr>
          <a:xfrm>
            <a:off x="7086600" y="3269988"/>
            <a:ext cx="3764234" cy="4144430"/>
          </a:xfrm>
          <a:custGeom>
            <a:avLst/>
            <a:gdLst/>
            <a:ahLst/>
            <a:cxnLst/>
            <a:rect l="l" t="t" r="r" b="b"/>
            <a:pathLst>
              <a:path w="7960268" h="8229600">
                <a:moveTo>
                  <a:pt x="0" y="0"/>
                </a:moveTo>
                <a:lnTo>
                  <a:pt x="7960268" y="0"/>
                </a:lnTo>
                <a:lnTo>
                  <a:pt x="79602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A743DBE6-2D36-EA80-48D5-30FE96D77085}"/>
              </a:ext>
            </a:extLst>
          </p:cNvPr>
          <p:cNvGrpSpPr/>
          <p:nvPr/>
        </p:nvGrpSpPr>
        <p:grpSpPr>
          <a:xfrm>
            <a:off x="4866613" y="1087509"/>
            <a:ext cx="674278" cy="646756"/>
            <a:chOff x="0" y="0"/>
            <a:chExt cx="622300" cy="596900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AA04BABA-443E-9A33-DC8D-E9AE9CA08D28}"/>
                </a:ext>
              </a:extLst>
            </p:cNvPr>
            <p:cNvSpPr/>
            <p:nvPr/>
          </p:nvSpPr>
          <p:spPr>
            <a:xfrm>
              <a:off x="0" y="0"/>
              <a:ext cx="622300" cy="596900"/>
            </a:xfrm>
            <a:custGeom>
              <a:avLst/>
              <a:gdLst/>
              <a:ahLst/>
              <a:cxnLst/>
              <a:rect l="l" t="t" r="r" b="b"/>
              <a:pathLst>
                <a:path w="622300" h="5969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DF563A"/>
            </a:solidFill>
          </p:spPr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19325C77-7C1B-9514-CCF6-3B0236F880DD}"/>
                </a:ext>
              </a:extLst>
            </p:cNvPr>
            <p:cNvSpPr txBox="1"/>
            <p:nvPr/>
          </p:nvSpPr>
          <p:spPr>
            <a:xfrm>
              <a:off x="0" y="165100"/>
              <a:ext cx="622300" cy="304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Agent-based DAG execution</a:t>
            </a:r>
          </a:p>
          <a:p>
            <a:r>
              <a:t>Multi-layer validation logic</a:t>
            </a:r>
          </a:p>
          <a:p>
            <a:r>
              <a:t>Adaptive retry mechanisms</a:t>
            </a:r>
          </a:p>
          <a:p>
            <a:r>
              <a:t>Structured output enforcement</a:t>
            </a: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CEE676B5-9A44-6379-3611-540532D35AF3}"/>
              </a:ext>
            </a:extLst>
          </p:cNvPr>
          <p:cNvGrpSpPr/>
          <p:nvPr/>
        </p:nvGrpSpPr>
        <p:grpSpPr>
          <a:xfrm>
            <a:off x="4686392" y="1094696"/>
            <a:ext cx="674278" cy="646756"/>
            <a:chOff x="0" y="0"/>
            <a:chExt cx="622300" cy="596900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C24F5876-0DC6-1CA2-4AB4-71CD035BEC85}"/>
                </a:ext>
              </a:extLst>
            </p:cNvPr>
            <p:cNvSpPr/>
            <p:nvPr/>
          </p:nvSpPr>
          <p:spPr>
            <a:xfrm>
              <a:off x="0" y="0"/>
              <a:ext cx="622300" cy="596900"/>
            </a:xfrm>
            <a:custGeom>
              <a:avLst/>
              <a:gdLst/>
              <a:ahLst/>
              <a:cxnLst/>
              <a:rect l="l" t="t" r="r" b="b"/>
              <a:pathLst>
                <a:path w="622300" h="5969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DF563A"/>
            </a:solidFill>
          </p:spPr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05AC6131-9A96-74A6-59EE-E6610FB1C328}"/>
                </a:ext>
              </a:extLst>
            </p:cNvPr>
            <p:cNvSpPr txBox="1"/>
            <p:nvPr/>
          </p:nvSpPr>
          <p:spPr>
            <a:xfrm>
              <a:off x="0" y="165100"/>
              <a:ext cx="622300" cy="304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74FDF62B-5F60-653E-352E-D03EF9A0F9C4}"/>
              </a:ext>
            </a:extLst>
          </p:cNvPr>
          <p:cNvSpPr/>
          <p:nvPr/>
        </p:nvSpPr>
        <p:spPr>
          <a:xfrm>
            <a:off x="5638800" y="2057401"/>
            <a:ext cx="6751467" cy="4851260"/>
          </a:xfrm>
          <a:custGeom>
            <a:avLst/>
            <a:gdLst/>
            <a:ahLst/>
            <a:cxnLst/>
            <a:rect l="l" t="t" r="r" b="b"/>
            <a:pathLst>
              <a:path w="9356060" h="6759754">
                <a:moveTo>
                  <a:pt x="0" y="0"/>
                </a:moveTo>
                <a:lnTo>
                  <a:pt x="9356061" y="0"/>
                </a:lnTo>
                <a:lnTo>
                  <a:pt x="9356061" y="6759753"/>
                </a:lnTo>
                <a:lnTo>
                  <a:pt x="0" y="67597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0BDAEBB1-3CE4-BE72-DF82-D2354133A23A}"/>
              </a:ext>
            </a:extLst>
          </p:cNvPr>
          <p:cNvSpPr/>
          <p:nvPr/>
        </p:nvSpPr>
        <p:spPr>
          <a:xfrm flipH="1">
            <a:off x="-748114" y="3429000"/>
            <a:ext cx="3864694" cy="4069080"/>
          </a:xfrm>
          <a:custGeom>
            <a:avLst/>
            <a:gdLst/>
            <a:ahLst/>
            <a:cxnLst/>
            <a:rect l="l" t="t" r="r" b="b"/>
            <a:pathLst>
              <a:path w="6370298" h="6816467">
                <a:moveTo>
                  <a:pt x="6370298" y="0"/>
                </a:moveTo>
                <a:lnTo>
                  <a:pt x="0" y="0"/>
                </a:lnTo>
                <a:lnTo>
                  <a:pt x="0" y="6816466"/>
                </a:lnTo>
                <a:lnTo>
                  <a:pt x="6370298" y="6816466"/>
                </a:lnTo>
                <a:lnTo>
                  <a:pt x="637029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Input ingestion layer</a:t>
            </a:r>
          </a:p>
          <a:p>
            <a:r>
              <a:rPr dirty="0"/>
              <a:t>Processing and orchestration</a:t>
            </a:r>
          </a:p>
          <a:p>
            <a:r>
              <a:rPr dirty="0"/>
              <a:t>Logic and validation layer</a:t>
            </a:r>
          </a:p>
          <a:p>
            <a:r>
              <a:rPr dirty="0"/>
              <a:t>Output generation system</a:t>
            </a: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2B24A03B-5154-FBB6-3F5F-0D258691E755}"/>
              </a:ext>
            </a:extLst>
          </p:cNvPr>
          <p:cNvGrpSpPr/>
          <p:nvPr/>
        </p:nvGrpSpPr>
        <p:grpSpPr>
          <a:xfrm>
            <a:off x="2047213" y="1087509"/>
            <a:ext cx="674278" cy="646756"/>
            <a:chOff x="0" y="0"/>
            <a:chExt cx="622300" cy="596900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C6155721-855A-BFA2-FDA7-1049EA8F7158}"/>
                </a:ext>
              </a:extLst>
            </p:cNvPr>
            <p:cNvSpPr/>
            <p:nvPr/>
          </p:nvSpPr>
          <p:spPr>
            <a:xfrm>
              <a:off x="0" y="0"/>
              <a:ext cx="622300" cy="596900"/>
            </a:xfrm>
            <a:custGeom>
              <a:avLst/>
              <a:gdLst/>
              <a:ahLst/>
              <a:cxnLst/>
              <a:rect l="l" t="t" r="r" b="b"/>
              <a:pathLst>
                <a:path w="622300" h="5969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DF563A"/>
            </a:solidFill>
          </p:spPr>
        </p: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C9233C2C-1193-9BF4-3F71-9591A54FD9DE}"/>
                </a:ext>
              </a:extLst>
            </p:cNvPr>
            <p:cNvSpPr txBox="1"/>
            <p:nvPr/>
          </p:nvSpPr>
          <p:spPr>
            <a:xfrm>
              <a:off x="0" y="165100"/>
              <a:ext cx="622300" cy="304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879B693A-6800-6303-59E6-79AC744C0C73}"/>
              </a:ext>
            </a:extLst>
          </p:cNvPr>
          <p:cNvSpPr/>
          <p:nvPr/>
        </p:nvSpPr>
        <p:spPr>
          <a:xfrm>
            <a:off x="6908800" y="2194560"/>
            <a:ext cx="3352800" cy="5323840"/>
          </a:xfrm>
          <a:custGeom>
            <a:avLst/>
            <a:gdLst/>
            <a:ahLst/>
            <a:cxnLst/>
            <a:rect l="l" t="t" r="r" b="b"/>
            <a:pathLst>
              <a:path w="6799707" h="8229600">
                <a:moveTo>
                  <a:pt x="0" y="0"/>
                </a:moveTo>
                <a:lnTo>
                  <a:pt x="6799707" y="0"/>
                </a:lnTo>
                <a:lnTo>
                  <a:pt x="67997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3530039-1420-C758-974F-96B111B8F68E}"/>
              </a:ext>
            </a:extLst>
          </p:cNvPr>
          <p:cNvSpPr/>
          <p:nvPr/>
        </p:nvSpPr>
        <p:spPr>
          <a:xfrm flipH="1">
            <a:off x="-698923" y="4633817"/>
            <a:ext cx="5270923" cy="3259645"/>
          </a:xfrm>
          <a:custGeom>
            <a:avLst/>
            <a:gdLst/>
            <a:ahLst/>
            <a:cxnLst/>
            <a:rect l="l" t="t" r="r" b="b"/>
            <a:pathLst>
              <a:path w="9238117" h="5005380">
                <a:moveTo>
                  <a:pt x="9238117" y="0"/>
                </a:moveTo>
                <a:lnTo>
                  <a:pt x="0" y="0"/>
                </a:lnTo>
                <a:lnTo>
                  <a:pt x="0" y="5005380"/>
                </a:lnTo>
                <a:lnTo>
                  <a:pt x="9238117" y="5005380"/>
                </a:lnTo>
                <a:lnTo>
                  <a:pt x="9238117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65B5C05-9EEB-E890-C10E-D83AAD10A2CA}"/>
              </a:ext>
            </a:extLst>
          </p:cNvPr>
          <p:cNvSpPr/>
          <p:nvPr/>
        </p:nvSpPr>
        <p:spPr>
          <a:xfrm>
            <a:off x="4279900" y="-1555599"/>
            <a:ext cx="4650766" cy="2495399"/>
          </a:xfrm>
          <a:custGeom>
            <a:avLst/>
            <a:gdLst/>
            <a:ahLst/>
            <a:cxnLst/>
            <a:rect l="l" t="t" r="r" b="b"/>
            <a:pathLst>
              <a:path w="6951893" h="2730198">
                <a:moveTo>
                  <a:pt x="0" y="0"/>
                </a:moveTo>
                <a:lnTo>
                  <a:pt x="6951893" y="0"/>
                </a:lnTo>
                <a:lnTo>
                  <a:pt x="6951893" y="2730198"/>
                </a:lnTo>
                <a:lnTo>
                  <a:pt x="0" y="2730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Agents</a:t>
            </a:r>
          </a:p>
          <a:p>
            <a:r>
              <a:t>Validation → Correction</a:t>
            </a:r>
          </a:p>
          <a:p>
            <a:r>
              <a:t>Consensus → Resolution</a:t>
            </a:r>
          </a:p>
          <a:p>
            <a:r>
              <a:t>Final Output → Export</a:t>
            </a:r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id="{966B4161-D6B3-309C-630E-85AD1300B72A}"/>
              </a:ext>
            </a:extLst>
          </p:cNvPr>
          <p:cNvGrpSpPr/>
          <p:nvPr/>
        </p:nvGrpSpPr>
        <p:grpSpPr>
          <a:xfrm>
            <a:off x="3126713" y="1087509"/>
            <a:ext cx="674278" cy="646756"/>
            <a:chOff x="0" y="0"/>
            <a:chExt cx="622300" cy="596900"/>
          </a:xfrm>
        </p:grpSpPr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6340E0C0-C1FC-18CB-F6A4-C125B46624DB}"/>
                </a:ext>
              </a:extLst>
            </p:cNvPr>
            <p:cNvSpPr/>
            <p:nvPr/>
          </p:nvSpPr>
          <p:spPr>
            <a:xfrm>
              <a:off x="0" y="0"/>
              <a:ext cx="622300" cy="596900"/>
            </a:xfrm>
            <a:custGeom>
              <a:avLst/>
              <a:gdLst/>
              <a:ahLst/>
              <a:cxnLst/>
              <a:rect l="l" t="t" r="r" b="b"/>
              <a:pathLst>
                <a:path w="622300" h="5969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DF563A"/>
            </a:solidFill>
          </p:spPr>
        </p:sp>
        <p:sp>
          <p:nvSpPr>
            <p:cNvPr id="6" name="TextBox 15">
              <a:extLst>
                <a:ext uri="{FF2B5EF4-FFF2-40B4-BE49-F238E27FC236}">
                  <a16:creationId xmlns:a16="http://schemas.microsoft.com/office/drawing/2014/main" id="{CE50FA86-9E98-2729-ED5B-CBBECBAA60F4}"/>
                </a:ext>
              </a:extLst>
            </p:cNvPr>
            <p:cNvSpPr txBox="1"/>
            <p:nvPr/>
          </p:nvSpPr>
          <p:spPr>
            <a:xfrm>
              <a:off x="0" y="165100"/>
              <a:ext cx="622300" cy="304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2F82BCE1-6135-8142-8C9E-F0E63F87498C}"/>
              </a:ext>
            </a:extLst>
          </p:cNvPr>
          <p:cNvSpPr/>
          <p:nvPr/>
        </p:nvSpPr>
        <p:spPr>
          <a:xfrm>
            <a:off x="-871539" y="4983140"/>
            <a:ext cx="6521543" cy="3749720"/>
          </a:xfrm>
          <a:custGeom>
            <a:avLst/>
            <a:gdLst/>
            <a:ahLst/>
            <a:cxnLst/>
            <a:rect l="l" t="t" r="r" b="b"/>
            <a:pathLst>
              <a:path w="10068470" h="7268775">
                <a:moveTo>
                  <a:pt x="0" y="0"/>
                </a:moveTo>
                <a:lnTo>
                  <a:pt x="10068470" y="0"/>
                </a:lnTo>
                <a:lnTo>
                  <a:pt x="10068470" y="7268774"/>
                </a:lnTo>
                <a:lnTo>
                  <a:pt x="0" y="7268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7FD80EE-9F23-8FFB-6A04-F43A199E6110}"/>
              </a:ext>
            </a:extLst>
          </p:cNvPr>
          <p:cNvSpPr/>
          <p:nvPr/>
        </p:nvSpPr>
        <p:spPr>
          <a:xfrm>
            <a:off x="6702613" y="4229100"/>
            <a:ext cx="1508367" cy="1636296"/>
          </a:xfrm>
          <a:custGeom>
            <a:avLst/>
            <a:gdLst/>
            <a:ahLst/>
            <a:cxnLst/>
            <a:rect l="l" t="t" r="r" b="b"/>
            <a:pathLst>
              <a:path w="1508367" h="1636296">
                <a:moveTo>
                  <a:pt x="0" y="0"/>
                </a:moveTo>
                <a:lnTo>
                  <a:pt x="1508367" y="0"/>
                </a:lnTo>
                <a:lnTo>
                  <a:pt x="1508367" y="1636296"/>
                </a:lnTo>
                <a:lnTo>
                  <a:pt x="0" y="16362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pipeline success rate</a:t>
            </a:r>
          </a:p>
          <a:p>
            <a:r>
              <a:t>Improved decision accuracy</a:t>
            </a:r>
          </a:p>
          <a:p>
            <a:r>
              <a:t>Reduced manual effort</a:t>
            </a:r>
          </a:p>
          <a:p>
            <a:r>
              <a:t>Consistent structured outputs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BD1AC66-3842-2B3A-1411-C0D6052B1339}"/>
              </a:ext>
            </a:extLst>
          </p:cNvPr>
          <p:cNvGrpSpPr/>
          <p:nvPr/>
        </p:nvGrpSpPr>
        <p:grpSpPr>
          <a:xfrm>
            <a:off x="6043613" y="1904493"/>
            <a:ext cx="2706052" cy="3789084"/>
            <a:chOff x="0" y="0"/>
            <a:chExt cx="728301" cy="9593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41D80A8-DE7B-5B50-079F-152E03AE4DFF}"/>
                </a:ext>
              </a:extLst>
            </p:cNvPr>
            <p:cNvSpPr/>
            <p:nvPr/>
          </p:nvSpPr>
          <p:spPr>
            <a:xfrm>
              <a:off x="0" y="0"/>
              <a:ext cx="728301" cy="959344"/>
            </a:xfrm>
            <a:custGeom>
              <a:avLst/>
              <a:gdLst/>
              <a:ahLst/>
              <a:cxnLst/>
              <a:rect l="l" t="t" r="r" b="b"/>
              <a:pathLst>
                <a:path w="728301" h="959344">
                  <a:moveTo>
                    <a:pt x="0" y="0"/>
                  </a:moveTo>
                  <a:lnTo>
                    <a:pt x="728301" y="0"/>
                  </a:lnTo>
                  <a:lnTo>
                    <a:pt x="728301" y="959344"/>
                  </a:lnTo>
                  <a:lnTo>
                    <a:pt x="0" y="959344"/>
                  </a:lnTo>
                  <a:close/>
                </a:path>
              </a:pathLst>
            </a:custGeom>
            <a:blipFill>
              <a:blip r:embed="rId2"/>
              <a:stretch>
                <a:fillRect l="-48854" r="-48854"/>
              </a:stretch>
            </a:blipFill>
          </p:spPr>
        </p:sp>
      </p:grpSp>
      <p:sp>
        <p:nvSpPr>
          <p:cNvPr id="6" name="Freeform 3">
            <a:extLst>
              <a:ext uri="{FF2B5EF4-FFF2-40B4-BE49-F238E27FC236}">
                <a16:creationId xmlns:a16="http://schemas.microsoft.com/office/drawing/2014/main" id="{3FBE1E55-14D0-EA05-7067-9AA70CD45F22}"/>
              </a:ext>
            </a:extLst>
          </p:cNvPr>
          <p:cNvSpPr/>
          <p:nvPr/>
        </p:nvSpPr>
        <p:spPr>
          <a:xfrm>
            <a:off x="4657725" y="-1154159"/>
            <a:ext cx="5695020" cy="9906387"/>
          </a:xfrm>
          <a:custGeom>
            <a:avLst/>
            <a:gdLst/>
            <a:ahLst/>
            <a:cxnLst/>
            <a:rect l="l" t="t" r="r" b="b"/>
            <a:pathLst>
              <a:path w="5695020" h="9906387">
                <a:moveTo>
                  <a:pt x="0" y="0"/>
                </a:moveTo>
                <a:lnTo>
                  <a:pt x="5695020" y="0"/>
                </a:lnTo>
                <a:lnTo>
                  <a:pt x="5695020" y="9906387"/>
                </a:lnTo>
                <a:lnTo>
                  <a:pt x="0" y="99063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946672D5-6937-FF10-0EFF-920AD443E9AC}"/>
              </a:ext>
            </a:extLst>
          </p:cNvPr>
          <p:cNvSpPr/>
          <p:nvPr/>
        </p:nvSpPr>
        <p:spPr>
          <a:xfrm>
            <a:off x="-4503003" y="3799035"/>
            <a:ext cx="7690935" cy="8229600"/>
          </a:xfrm>
          <a:custGeom>
            <a:avLst/>
            <a:gdLst/>
            <a:ahLst/>
            <a:cxnLst/>
            <a:rect l="l" t="t" r="r" b="b"/>
            <a:pathLst>
              <a:path w="7690935" h="8229600">
                <a:moveTo>
                  <a:pt x="0" y="0"/>
                </a:moveTo>
                <a:lnTo>
                  <a:pt x="7690935" y="0"/>
                </a:lnTo>
                <a:lnTo>
                  <a:pt x="76909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Structure improves clarity</a:t>
            </a:r>
          </a:p>
          <a:p>
            <a:r>
              <a:rPr dirty="0"/>
              <a:t>Validation reduces errors</a:t>
            </a:r>
          </a:p>
          <a:p>
            <a:r>
              <a:rPr dirty="0"/>
              <a:t>Parallel execution boosts speed</a:t>
            </a:r>
          </a:p>
          <a:p>
            <a:r>
              <a:rPr dirty="0"/>
              <a:t>Memory enables learning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61FAE840-40DB-6666-75E2-0B81F5B0AEAC}"/>
              </a:ext>
            </a:extLst>
          </p:cNvPr>
          <p:cNvGrpSpPr/>
          <p:nvPr/>
        </p:nvGrpSpPr>
        <p:grpSpPr>
          <a:xfrm>
            <a:off x="4234861" y="1133651"/>
            <a:ext cx="674278" cy="646756"/>
            <a:chOff x="0" y="0"/>
            <a:chExt cx="622300" cy="596900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DD6D5657-7734-AE93-13AD-BD7CC7A53370}"/>
                </a:ext>
              </a:extLst>
            </p:cNvPr>
            <p:cNvSpPr/>
            <p:nvPr/>
          </p:nvSpPr>
          <p:spPr>
            <a:xfrm>
              <a:off x="0" y="0"/>
              <a:ext cx="622300" cy="596900"/>
            </a:xfrm>
            <a:custGeom>
              <a:avLst/>
              <a:gdLst/>
              <a:ahLst/>
              <a:cxnLst/>
              <a:rect l="l" t="t" r="r" b="b"/>
              <a:pathLst>
                <a:path w="622300" h="5969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DF563A"/>
            </a:solidFill>
          </p:spPr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1856FEE9-9BD0-0F8B-7602-5614AB48B476}"/>
                </a:ext>
              </a:extLst>
            </p:cNvPr>
            <p:cNvSpPr txBox="1"/>
            <p:nvPr/>
          </p:nvSpPr>
          <p:spPr>
            <a:xfrm>
              <a:off x="0" y="165100"/>
              <a:ext cx="622300" cy="304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BFEE1DA-190C-5E81-D940-81A0C74A03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596866"/>
              </p:ext>
            </p:extLst>
          </p:nvPr>
        </p:nvGraphicFramePr>
        <p:xfrm>
          <a:off x="4086225" y="3714750"/>
          <a:ext cx="4795837" cy="2960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Freeform 8">
            <a:extLst>
              <a:ext uri="{FF2B5EF4-FFF2-40B4-BE49-F238E27FC236}">
                <a16:creationId xmlns:a16="http://schemas.microsoft.com/office/drawing/2014/main" id="{871F6608-64D6-AAC7-CC4E-DEB08534B79E}"/>
              </a:ext>
            </a:extLst>
          </p:cNvPr>
          <p:cNvSpPr/>
          <p:nvPr/>
        </p:nvSpPr>
        <p:spPr>
          <a:xfrm rot="8676994">
            <a:off x="-193832" y="3752977"/>
            <a:ext cx="4731063" cy="8229600"/>
          </a:xfrm>
          <a:custGeom>
            <a:avLst/>
            <a:gdLst/>
            <a:ahLst/>
            <a:cxnLst/>
            <a:rect l="l" t="t" r="r" b="b"/>
            <a:pathLst>
              <a:path w="4731063" h="8229600">
                <a:moveTo>
                  <a:pt x="0" y="0"/>
                </a:moveTo>
                <a:lnTo>
                  <a:pt x="4731063" y="0"/>
                </a:lnTo>
                <a:lnTo>
                  <a:pt x="473106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 automation depth</a:t>
            </a:r>
          </a:p>
          <a:p>
            <a:r>
              <a:t>Expand use cases</a:t>
            </a:r>
          </a:p>
          <a:p>
            <a:r>
              <a:t>Improve UI integration</a:t>
            </a:r>
          </a:p>
          <a:p>
            <a:r>
              <a:t>Optimize performance</a:t>
            </a: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DBF69D08-29AF-3761-CA17-D83F6F0B4E14}"/>
              </a:ext>
            </a:extLst>
          </p:cNvPr>
          <p:cNvGrpSpPr/>
          <p:nvPr/>
        </p:nvGrpSpPr>
        <p:grpSpPr>
          <a:xfrm>
            <a:off x="4909139" y="1087509"/>
            <a:ext cx="674278" cy="646756"/>
            <a:chOff x="0" y="0"/>
            <a:chExt cx="622300" cy="596900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49C5111-6880-4B9D-85A0-F263DE4524F7}"/>
                </a:ext>
              </a:extLst>
            </p:cNvPr>
            <p:cNvSpPr/>
            <p:nvPr/>
          </p:nvSpPr>
          <p:spPr>
            <a:xfrm>
              <a:off x="0" y="0"/>
              <a:ext cx="622300" cy="596900"/>
            </a:xfrm>
            <a:custGeom>
              <a:avLst/>
              <a:gdLst/>
              <a:ahLst/>
              <a:cxnLst/>
              <a:rect l="l" t="t" r="r" b="b"/>
              <a:pathLst>
                <a:path w="622300" h="5969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DF563A"/>
            </a:solidFill>
          </p:spPr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724D2C3B-1D0B-BD91-EDF1-3A79B85F31B7}"/>
                </a:ext>
              </a:extLst>
            </p:cNvPr>
            <p:cNvSpPr txBox="1"/>
            <p:nvPr/>
          </p:nvSpPr>
          <p:spPr>
            <a:xfrm>
              <a:off x="0" y="165100"/>
              <a:ext cx="622300" cy="304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C2D200D-7DF4-FB3B-65D3-297D43B85950}"/>
              </a:ext>
            </a:extLst>
          </p:cNvPr>
          <p:cNvSpPr/>
          <p:nvPr/>
        </p:nvSpPr>
        <p:spPr>
          <a:xfrm flipH="1">
            <a:off x="-5552253" y="764373"/>
            <a:ext cx="9238117" cy="5005380"/>
          </a:xfrm>
          <a:custGeom>
            <a:avLst/>
            <a:gdLst/>
            <a:ahLst/>
            <a:cxnLst/>
            <a:rect l="l" t="t" r="r" b="b"/>
            <a:pathLst>
              <a:path w="9238117" h="5005380">
                <a:moveTo>
                  <a:pt x="9238117" y="0"/>
                </a:moveTo>
                <a:lnTo>
                  <a:pt x="0" y="0"/>
                </a:lnTo>
                <a:lnTo>
                  <a:pt x="0" y="5005380"/>
                </a:lnTo>
                <a:lnTo>
                  <a:pt x="9238117" y="5005380"/>
                </a:lnTo>
                <a:lnTo>
                  <a:pt x="9238117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5424627-B6CE-8EBF-1AC1-9509A5048B90}"/>
              </a:ext>
            </a:extLst>
          </p:cNvPr>
          <p:cNvSpPr/>
          <p:nvPr/>
        </p:nvSpPr>
        <p:spPr>
          <a:xfrm>
            <a:off x="7466945" y="-685800"/>
            <a:ext cx="4731063" cy="8229600"/>
          </a:xfrm>
          <a:custGeom>
            <a:avLst/>
            <a:gdLst/>
            <a:ahLst/>
            <a:cxnLst/>
            <a:rect l="l" t="t" r="r" b="b"/>
            <a:pathLst>
              <a:path w="4731063" h="8229600">
                <a:moveTo>
                  <a:pt x="0" y="0"/>
                </a:moveTo>
                <a:lnTo>
                  <a:pt x="4731063" y="0"/>
                </a:lnTo>
                <a:lnTo>
                  <a:pt x="473106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generation to reasoning</a:t>
            </a:r>
          </a:p>
          <a:p>
            <a:r>
              <a:t>Structured decision system</a:t>
            </a:r>
          </a:p>
          <a:p>
            <a:r>
              <a:t>Scalable and reliable</a:t>
            </a:r>
          </a:p>
          <a:p>
            <a:r>
              <a:t>Ready for real-world use</a:t>
            </a: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527725A6-C346-E511-2278-251490548804}"/>
              </a:ext>
            </a:extLst>
          </p:cNvPr>
          <p:cNvGrpSpPr/>
          <p:nvPr/>
        </p:nvGrpSpPr>
        <p:grpSpPr>
          <a:xfrm rot="908398">
            <a:off x="115904" y="3775468"/>
            <a:ext cx="3028747" cy="2826533"/>
            <a:chOff x="0" y="0"/>
            <a:chExt cx="685800" cy="685800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40B013B5-72D6-0D10-28FA-74F0F2A1C97F}"/>
                </a:ext>
              </a:extLst>
            </p:cNvPr>
            <p:cNvSpPr/>
            <p:nvPr/>
          </p:nvSpPr>
          <p:spPr>
            <a:xfrm>
              <a:off x="46761" y="46761"/>
              <a:ext cx="592277" cy="592277"/>
            </a:xfrm>
            <a:custGeom>
              <a:avLst/>
              <a:gdLst/>
              <a:ahLst/>
              <a:cxnLst/>
              <a:rect l="l" t="t" r="r" b="b"/>
              <a:pathLst>
                <a:path w="592277" h="592277">
                  <a:moveTo>
                    <a:pt x="305036" y="7559"/>
                  </a:moveTo>
                  <a:lnTo>
                    <a:pt x="335502" y="193559"/>
                  </a:lnTo>
                  <a:cubicBezTo>
                    <a:pt x="340818" y="226017"/>
                    <a:pt x="366261" y="251460"/>
                    <a:pt x="398719" y="256776"/>
                  </a:cubicBezTo>
                  <a:lnTo>
                    <a:pt x="584719" y="287242"/>
                  </a:lnTo>
                  <a:cubicBezTo>
                    <a:pt x="589078" y="287956"/>
                    <a:pt x="592278" y="291722"/>
                    <a:pt x="592278" y="296139"/>
                  </a:cubicBezTo>
                  <a:cubicBezTo>
                    <a:pt x="592278" y="300556"/>
                    <a:pt x="589078" y="304322"/>
                    <a:pt x="584719" y="305036"/>
                  </a:cubicBezTo>
                  <a:lnTo>
                    <a:pt x="398719" y="335502"/>
                  </a:lnTo>
                  <a:cubicBezTo>
                    <a:pt x="366261" y="340818"/>
                    <a:pt x="340818" y="366261"/>
                    <a:pt x="335502" y="398719"/>
                  </a:cubicBezTo>
                  <a:lnTo>
                    <a:pt x="305036" y="584719"/>
                  </a:lnTo>
                  <a:cubicBezTo>
                    <a:pt x="304322" y="589078"/>
                    <a:pt x="300556" y="592278"/>
                    <a:pt x="296139" y="592278"/>
                  </a:cubicBezTo>
                  <a:cubicBezTo>
                    <a:pt x="291722" y="592278"/>
                    <a:pt x="287956" y="589078"/>
                    <a:pt x="287242" y="584719"/>
                  </a:cubicBezTo>
                  <a:lnTo>
                    <a:pt x="256776" y="398719"/>
                  </a:lnTo>
                  <a:cubicBezTo>
                    <a:pt x="251460" y="366261"/>
                    <a:pt x="226017" y="340818"/>
                    <a:pt x="193559" y="335502"/>
                  </a:cubicBezTo>
                  <a:lnTo>
                    <a:pt x="7559" y="305036"/>
                  </a:lnTo>
                  <a:cubicBezTo>
                    <a:pt x="3200" y="304322"/>
                    <a:pt x="0" y="300556"/>
                    <a:pt x="0" y="296139"/>
                  </a:cubicBezTo>
                  <a:cubicBezTo>
                    <a:pt x="0" y="291722"/>
                    <a:pt x="3200" y="287956"/>
                    <a:pt x="7559" y="287242"/>
                  </a:cubicBezTo>
                  <a:lnTo>
                    <a:pt x="193559" y="256776"/>
                  </a:lnTo>
                  <a:cubicBezTo>
                    <a:pt x="226017" y="251460"/>
                    <a:pt x="251460" y="226017"/>
                    <a:pt x="256776" y="193559"/>
                  </a:cubicBezTo>
                  <a:lnTo>
                    <a:pt x="287242" y="7559"/>
                  </a:lnTo>
                  <a:cubicBezTo>
                    <a:pt x="287956" y="3200"/>
                    <a:pt x="291722" y="0"/>
                    <a:pt x="296139" y="0"/>
                  </a:cubicBezTo>
                  <a:cubicBezTo>
                    <a:pt x="300556" y="0"/>
                    <a:pt x="304322" y="3200"/>
                    <a:pt x="305036" y="7559"/>
                  </a:cubicBezTo>
                  <a:close/>
                </a:path>
              </a:pathLst>
            </a:custGeom>
            <a:gradFill rotWithShape="1">
              <a:gsLst>
                <a:gs pos="0">
                  <a:srgbClr val="DF563A">
                    <a:alpha val="12880"/>
                  </a:srgbClr>
                </a:gs>
                <a:gs pos="50000">
                  <a:srgbClr val="FF61A6">
                    <a:alpha val="23000"/>
                  </a:srgbClr>
                </a:gs>
                <a:gs pos="100000">
                  <a:srgbClr val="8561FF">
                    <a:alpha val="10235"/>
                  </a:srgbClr>
                </a:gs>
              </a:gsLst>
              <a:lin ang="0"/>
            </a:gradFill>
          </p:spPr>
        </p: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AECD1678-A49D-08E7-EA7D-33D9E036B8EE}"/>
                </a:ext>
              </a:extLst>
            </p:cNvPr>
            <p:cNvSpPr txBox="1"/>
            <p:nvPr/>
          </p:nvSpPr>
          <p:spPr>
            <a:xfrm>
              <a:off x="294295" y="332395"/>
              <a:ext cx="97209" cy="59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7240FEED-5193-B8E3-C109-46A04CE3DEA9}"/>
              </a:ext>
            </a:extLst>
          </p:cNvPr>
          <p:cNvGrpSpPr/>
          <p:nvPr/>
        </p:nvGrpSpPr>
        <p:grpSpPr>
          <a:xfrm>
            <a:off x="4234861" y="1087509"/>
            <a:ext cx="674278" cy="646756"/>
            <a:chOff x="0" y="0"/>
            <a:chExt cx="622300" cy="596900"/>
          </a:xfrm>
        </p:grpSpPr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DA878825-8969-2B7D-AB48-5DF6CC7A3B19}"/>
                </a:ext>
              </a:extLst>
            </p:cNvPr>
            <p:cNvSpPr/>
            <p:nvPr/>
          </p:nvSpPr>
          <p:spPr>
            <a:xfrm>
              <a:off x="0" y="0"/>
              <a:ext cx="622300" cy="596900"/>
            </a:xfrm>
            <a:custGeom>
              <a:avLst/>
              <a:gdLst/>
              <a:ahLst/>
              <a:cxnLst/>
              <a:rect l="l" t="t" r="r" b="b"/>
              <a:pathLst>
                <a:path w="622300" h="5969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DF563A"/>
            </a:solidFill>
          </p:spPr>
        </p:sp>
        <p:sp>
          <p:nvSpPr>
            <p:cNvPr id="9" name="TextBox 13">
              <a:extLst>
                <a:ext uri="{FF2B5EF4-FFF2-40B4-BE49-F238E27FC236}">
                  <a16:creationId xmlns:a16="http://schemas.microsoft.com/office/drawing/2014/main" id="{9E158ACA-77DB-5B15-FB70-ADB80E8934D3}"/>
                </a:ext>
              </a:extLst>
            </p:cNvPr>
            <p:cNvSpPr txBox="1"/>
            <p:nvPr/>
          </p:nvSpPr>
          <p:spPr>
            <a:xfrm>
              <a:off x="0" y="165100"/>
              <a:ext cx="622300" cy="304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BD0BA4A3-364C-57B9-CE00-748773E13591}"/>
              </a:ext>
            </a:extLst>
          </p:cNvPr>
          <p:cNvSpPr/>
          <p:nvPr/>
        </p:nvSpPr>
        <p:spPr>
          <a:xfrm>
            <a:off x="3949631" y="3223612"/>
            <a:ext cx="10060588" cy="7268775"/>
          </a:xfrm>
          <a:custGeom>
            <a:avLst/>
            <a:gdLst/>
            <a:ahLst/>
            <a:cxnLst/>
            <a:rect l="l" t="t" r="r" b="b"/>
            <a:pathLst>
              <a:path w="10060588" h="7268775">
                <a:moveTo>
                  <a:pt x="0" y="0"/>
                </a:moveTo>
                <a:lnTo>
                  <a:pt x="10060587" y="0"/>
                </a:lnTo>
                <a:lnTo>
                  <a:pt x="10060587" y="7268774"/>
                </a:lnTo>
                <a:lnTo>
                  <a:pt x="0" y="7268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B4BA5DC-E441-9A2B-CAF2-CDA51B06BB29}"/>
              </a:ext>
            </a:extLst>
          </p:cNvPr>
          <p:cNvSpPr/>
          <p:nvPr/>
        </p:nvSpPr>
        <p:spPr>
          <a:xfrm>
            <a:off x="3588994" y="1105729"/>
            <a:ext cx="7690935" cy="8229600"/>
          </a:xfrm>
          <a:custGeom>
            <a:avLst/>
            <a:gdLst/>
            <a:ahLst/>
            <a:cxnLst/>
            <a:rect l="l" t="t" r="r" b="b"/>
            <a:pathLst>
              <a:path w="7690935" h="8229600">
                <a:moveTo>
                  <a:pt x="0" y="0"/>
                </a:moveTo>
                <a:lnTo>
                  <a:pt x="7690936" y="0"/>
                </a:lnTo>
                <a:lnTo>
                  <a:pt x="76909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17</TotalTime>
  <Words>142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Cortexa Presentation</vt:lpstr>
      <vt:lpstr>Problem Context</vt:lpstr>
      <vt:lpstr>Objective</vt:lpstr>
      <vt:lpstr>Approach</vt:lpstr>
      <vt:lpstr>System Architecture</vt:lpstr>
      <vt:lpstr>Execution Flow</vt:lpstr>
      <vt:lpstr>Results</vt:lpstr>
      <vt:lpstr>Key Insights</vt:lpstr>
      <vt:lpstr>Next Steps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 BAJPAI</cp:lastModifiedBy>
  <cp:revision>2</cp:revision>
  <dcterms:created xsi:type="dcterms:W3CDTF">2013-01-27T09:14:16Z</dcterms:created>
  <dcterms:modified xsi:type="dcterms:W3CDTF">2026-04-29T11:41:14Z</dcterms:modified>
  <cp:category/>
</cp:coreProperties>
</file>